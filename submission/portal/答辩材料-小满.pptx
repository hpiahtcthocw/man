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模型规划</c:v>
                </c:pt>
              </c:strCache>
            </c:strRef>
          </c:tx>
          <c:spPr>
            <a:solidFill>
              <a:srgbClr val="2E5E4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26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正常 12</c:v>
                  </c:pt>
                  <c:pt idx="1">
                    <c:v>攻击 8</c:v>
                  </c:pt>
                  <c:pt idx="2">
                    <c:v>故障 4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8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纯规则对照</c:v>
                </c:pt>
              </c:strCache>
            </c:strRef>
          </c:tx>
          <c:spPr>
            <a:solidFill>
              <a:srgbClr val="9DB8A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A26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正常 12</c:v>
                  </c:pt>
                  <c:pt idx="1">
                    <c:v>攻击 8</c:v>
                  </c:pt>
                  <c:pt idx="2">
                    <c:v>故障 4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</c:v>
                </c:pt>
                <c:pt idx="1">
                  <c:v>8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A26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86F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</c:scaling>
        <c:delete val="0"/>
        <c:axPos val="l"/>
        <c:majorGridlines>
          <c:spPr>
            <a:ln w="6350" cap="flat">
              <a:solidFill>
                <a:srgbClr val="E6ED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6786F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  <c:majorUnit val="4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F2A26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打开首页不点任何东西：三条叮咛——那笔没见过的599、下周要扣的三笔费、养老金到账。别的产品等你提问，小满每天先开口。下面所有账户是银行沙箱，模型是真实调用。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AI诈骗层出不穷，老人最怕的不是银行不安全，是看不懂、没人管。点绿色大按钮“听小满说”全程朗读。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卡丢了，银行App三秒就能挂失——然后呢？菜单只给你一个“挂失成功”，我们把挂失之后的事一条条列出来、陪着办完。最后决定仍由本人作出。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三类独立满足题面覆盖，都是当前版本实拍。反诈贯穿执行，不凑第四类。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九月花了多少；继续整理持续扣费；同意查询；B不用了A留着；只撤销B；核实结果。演示是实际运行，不播放预置动画。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这里考验对象、金额、日期和批准的一致性。改日期不重置人，改金额使旧草稿失效。未来工资和其他资金预留不能被模型忽略。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银行安全是存量能力，小满的增量是替用户盯着并管到结果。主动性是架构。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确定性路径不调模型，等待更短、结果可复现；模型负责听懂话，行为有边界。规则覆盖明确格式，模型补非模板口语。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模型提供受限提案，后端校验依赖。白名单和事务控制资金。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针对AI诈骗高发场景。当前没有银行坐席接入，安全暂停不会被聊天指令解除。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先记录UNKNOWN，再查同一交易的回执。只恢复原交易，结果来自银行沙箱。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不要把工程用例数当任务完成率。规则仍能完成绝大多数固定表达，模型价值出现在非模板口语。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当前完成的是可运行、可复测的银行沙箱。真实合作和用户收益不能用包装代替。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银行办事助手 · 银发友好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356616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把老人的一句口语，变成有回执、有善后的银行办理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5897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演示环境：本机银行沙箱 · 模型真实调用 · 不操作真实资金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223760" y="685800"/>
            <a:ext cx="4389120" cy="548640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88900" dist="25400" dir="5400000">
              <a:srgbClr val="1E3A30">
                <a:alpha val="14000"/>
              </a:srgbClr>
            </a:outerShdw>
          </a:effectLst>
        </p:spPr>
      </p:sp>
      <p:pic>
        <p:nvPicPr>
          <p:cNvPr id="7" name="Image 0" descr="E:\gitproject\hackathon\cashflow-guardian\submission\pptx-assets\01-brief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0" y="777240"/>
            <a:ext cx="42062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· 它先开口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别的助手等你提问；小满打开就先把钱看了一遍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94360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88900" dist="25400" dir="5400000">
              <a:srgbClr val="1E3A30">
                <a:alpha val="14000"/>
              </a:srgbClr>
            </a:outerShdw>
          </a:effectLst>
        </p:spPr>
      </p:sp>
      <p:pic>
        <p:nvPicPr>
          <p:cNvPr id="7" name="Image 0" descr="E:\gitproject\hackathon\cashflow-guardian\submission\pptx-assets\02-briefing-c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920240"/>
            <a:ext cx="576072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2120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首页“小满先跟你说”卡片（实拍）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56692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数据来自账本事实，不是模板问候。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040880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599 元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040880" y="245973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没见过的扣费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点“帮我跟进”就跟进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9601200" y="17830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97 元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601200" y="24597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三笔扣费将到期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不需要的可以停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7040880" y="37947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4350 元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7040880" y="447141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养老金到账</a:t>
            </a:r>
            <a:endParaRPr lang="en-US" sz="13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这个月够用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7040880" y="5440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点“听小满说”，三条全部念给老人听。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一件完整的事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银行三秒就能挂失；挂失之后的事，没人管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035040" y="1691640"/>
            <a:ext cx="557784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88900" dist="25400" dir="5400000">
              <a:srgbClr val="1E3A30">
                <a:alpha val="14000"/>
              </a:srgbClr>
            </a:outerShdw>
          </a:effectLst>
        </p:spPr>
      </p:sp>
      <p:pic>
        <p:nvPicPr>
          <p:cNvPr id="7" name="Image 0" descr="E:\gitproject\hackathon\cashflow-guardian\submission\pptx-assets\05-aftermath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0" y="1783080"/>
            <a:ext cx="539496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35040" y="644652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挂失完成后自动出现的善后清单（实拍）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192024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9202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笔扣费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2468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绑在卡上，月底会集中失败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301752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" y="301752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 App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35661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微信支付宝解绑，明说碰不到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4114800"/>
            <a:ext cx="155448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" y="411480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张清单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8640" y="4663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善后逐项列给你，陪着办完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548640" y="5394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“老人怕的不是银行不安全，是办完一件事，后面还拖着一串事。”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题面覆盖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转账、账单、代扣：三类独立闭环，反诈贯穿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88900" dist="25400" dir="5400000">
              <a:srgbClr val="1E3A30">
                <a:alpha val="14000"/>
              </a:srgbClr>
            </a:outerShdw>
          </a:effectLst>
        </p:spPr>
      </p:sp>
      <p:pic>
        <p:nvPicPr>
          <p:cNvPr id="7" name="Image 0" descr="E:\gitproject\hackathon\cashflow-guardian\submission\pptx-assets\03-transfer-for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28800"/>
            <a:ext cx="3429000" cy="3931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325112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88900" dist="25400" dir="5400000">
              <a:srgbClr val="1E3A30">
                <a:alpha val="14000"/>
              </a:srgbClr>
            </a:outerShdw>
          </a:effectLst>
        </p:spPr>
      </p:sp>
      <p:pic>
        <p:nvPicPr>
          <p:cNvPr id="9" name="Image 1" descr="E:\gitproject\hackathon\cashflow-guardian\submission\pptx-assets\02-bill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16552" y="1828800"/>
            <a:ext cx="3429000" cy="393192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101584" y="173736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88900" dist="25400" dir="5400000">
              <a:srgbClr val="1E3A30">
                <a:alpha val="14000"/>
              </a:srgbClr>
            </a:outerShdw>
          </a:effectLst>
        </p:spPr>
      </p:sp>
      <p:pic>
        <p:nvPicPr>
          <p:cNvPr id="11" name="Image 2" descr="E:\gitproject\hackathon\cashflow-guardian\submission\pptx-assets\04-subs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93024" y="1828800"/>
            <a:ext cx="3429000" cy="3931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8640" y="5943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转账：核对 → 强验证 → 回执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4325112" y="5943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账单：白话汇总 → 可回查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8101584" y="594360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代扣：同意查询 → 逐项意愿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跨场景联动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查清、征得同意、逐项停、银行回读——来源不丢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048256" cy="822960"/>
          </a:xfrm>
          <a:prstGeom prst="roundRect">
            <a:avLst>
              <a:gd name="adj" fmla="val 6667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20482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账单发现异常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96896" y="2377440"/>
            <a:ext cx="256032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52928" y="1965960"/>
            <a:ext cx="2048256" cy="822960"/>
          </a:xfrm>
          <a:prstGeom prst="roundRect">
            <a:avLst>
              <a:gd name="adj" fmla="val 6667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52928" y="1965960"/>
            <a:ext cx="20482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单独同意查询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901184" y="2377440"/>
            <a:ext cx="256032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157216" y="1965960"/>
            <a:ext cx="2048256" cy="822960"/>
          </a:xfrm>
          <a:prstGeom prst="roundRect">
            <a:avLst>
              <a:gd name="adj" fmla="val 6667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57216" y="1965960"/>
            <a:ext cx="20482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逐项标记意愿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05472" y="2377440"/>
            <a:ext cx="256032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461504" y="1965960"/>
            <a:ext cx="2048256" cy="822960"/>
          </a:xfrm>
          <a:prstGeom prst="roundRect">
            <a:avLst>
              <a:gd name="adj" fmla="val 6667"/>
            </a:avLst>
          </a:prstGeom>
          <a:solidFill>
            <a:srgbClr val="C2410C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61504" y="1965960"/>
            <a:ext cx="20482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每项分别确认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09760" y="2377440"/>
            <a:ext cx="256032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765792" y="1965960"/>
            <a:ext cx="2048256" cy="822960"/>
          </a:xfrm>
          <a:prstGeom prst="roundRect">
            <a:avLst>
              <a:gd name="adj" fmla="val 6667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65792" y="1965960"/>
            <a:ext cx="2048256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银行回读结果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5204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5204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不推断使用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926080" y="35204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35204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 ≠ 退款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303520" y="352044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52044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同名先消歧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80960" y="352044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5204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一次只撤一项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8640" y="44805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是否需要，由用户亲口标记——账单不证明使用。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" y="51206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停的是银行代扣协议；商户会员合同与已扣款另行处理。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核心机制一 · 独有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改口之后哪句话作废哪个批准，机器说了算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“给张伟转600”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80360" y="2103120"/>
            <a:ext cx="585216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65576" y="1783080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5576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“同学那个”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97296" y="2103120"/>
            <a:ext cx="585216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82512" y="1783080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“改成周五”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14232" y="2103120"/>
            <a:ext cx="585216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299448" y="1783080"/>
            <a:ext cx="2331720" cy="640080"/>
          </a:xfrm>
          <a:prstGeom prst="roundRect">
            <a:avLst>
              <a:gd name="adj" fmla="val 8571"/>
            </a:avLst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99448" y="1783080"/>
            <a:ext cx="233172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核对并确认预约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5760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20040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用户改口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系统处理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E4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换对象 / 改金额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旧批准作废，重走准备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改日期 / 补备注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只重校验受影响字段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“先别转了”/“继续办理”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A2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确定性暂停与恢复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2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548640" y="56235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幂等键绑定参数摘要：批准只对这一组参数有效。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720840" y="2926080"/>
            <a:ext cx="4892040" cy="1371600"/>
          </a:xfrm>
          <a:prstGeom prst="roundRect">
            <a:avLst>
              <a:gd name="adj" fmla="val 4000"/>
            </a:avLst>
          </a:prstGeom>
          <a:solidFill>
            <a:srgbClr val="FBEDE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949440" y="312724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“转 7000，至少留 3000”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明确拒绝：余额底线是约束，模型无权“变通”。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核心机制二 · 独有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主动性不是话术，是架构：盯住直到用户作答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011680"/>
            <a:ext cx="19659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账本事实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异常检测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017520" y="201168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2011680"/>
            <a:ext cx="19659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今日叮咛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它先开口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2011680"/>
            <a:ext cx="1965960" cy="914400"/>
          </a:xfrm>
          <a:prstGeom prst="roundRect">
            <a:avLst>
              <a:gd name="adj" fmla="val 6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2011680"/>
            <a:ext cx="19659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证据整理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日期/金额/渠道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2011680"/>
            <a:ext cx="2103120" cy="914400"/>
          </a:xfrm>
          <a:prstGeom prst="roundRect">
            <a:avLst>
              <a:gd name="adj" fmla="val 6000"/>
            </a:avLst>
          </a:prstGeom>
          <a:solidFill>
            <a:srgbClr val="2E5E4E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011680"/>
            <a:ext cx="210312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用户亲口作答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是我/追回/放一放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378440" y="201168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78440" y="2011680"/>
            <a:ext cx="128016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归档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14600" y="2468880"/>
            <a:ext cx="502920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983480" y="2468880"/>
            <a:ext cx="502920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52360" y="2468880"/>
            <a:ext cx="502920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058400" y="2468880"/>
            <a:ext cx="320040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55280" y="36576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55280" y="3657600"/>
            <a:ext cx="21031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挂起（可续问）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06840" y="2926080"/>
            <a:ext cx="0" cy="73152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0" y="36576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3657600"/>
            <a:ext cx="210312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盯到了提醒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商户再动一笔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0" y="3657600"/>
            <a:ext cx="1737360" cy="-73152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548640" y="50292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没有一步是模型编的：事实从账本来，判断由用户做，结果进审计。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48640" y="5669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可疑扣费的证据用于向银行主张争议；闭环端到端实测可复现。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核心机制三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确定性的不进模型，复杂口语才走模型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2697480"/>
          </a:xfrm>
          <a:prstGeom prst="roundRect">
            <a:avLst>
              <a:gd name="adj" fmla="val 2034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539496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不经模型，直接处理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明确补充：只重校验受影响字段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同名协议：消歧后一次只撤一项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暂停与恢复：确定性执行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余额底线：直接校验，明确拒绝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执行超时：回查原交易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00800" y="1965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交给模型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246888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首次口语的任务识别与参数抽取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非模板表达和口语化改口</a:t>
            </a:r>
            <a:endParaRPr lang="en-US" sz="1450" dirty="0"/>
          </a:p>
          <a:p>
            <a:pPr marL="152400" indent="-152400">
              <a:spcAft>
                <a:spcPts val="800"/>
              </a:spcAft>
              <a:buSzPct val="100000"/>
              <a:buChar char="▸"/>
            </a:pPr>
            <a:r>
              <a:rPr lang="en-US" sz="145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跨场景衔接：账单→代扣、挂失→善后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模型的每次输出都要通过后端校验才生效。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892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159ms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548640" y="55686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确定性编辑，不进模型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80560" y="48920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 秒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4480560" y="556869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模型轮次中位耗时（冻结重跑实测）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12480" y="48920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→ 11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412480" y="5568696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压力组修复（正常组 11 题）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权限与架构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模型只提案；资金由白名单、事务和状态机管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783080"/>
            <a:ext cx="4937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口语输入（语音/文字）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17520" y="2441448"/>
            <a:ext cx="0" cy="18288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624328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FBEDE5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624328"/>
            <a:ext cx="4937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模型：受限提案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017520" y="3282696"/>
            <a:ext cx="0" cy="18288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465576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65576"/>
            <a:ext cx="4937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后端校验：白名单 · 幂等 · 约束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017520" y="4123944"/>
            <a:ext cx="0" cy="18288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4306824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306824"/>
            <a:ext cx="4937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银行沙箱执行（事务）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017520" y="4965192"/>
            <a:ext cx="0" cy="18288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5148072"/>
            <a:ext cx="4937760" cy="658368"/>
          </a:xfrm>
          <a:prstGeom prst="roundRect">
            <a:avLst>
              <a:gd name="adj" fmla="val 8333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5148072"/>
            <a:ext cx="49377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回执回读 + 审计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309360" y="19202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模型不能做的四件事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09360" y="2514600"/>
            <a:ext cx="2514600" cy="603504"/>
          </a:xfrm>
          <a:prstGeom prst="roundRect">
            <a:avLst>
              <a:gd name="adj" fmla="val 9091"/>
            </a:avLst>
          </a:prstGeom>
          <a:solidFill>
            <a:srgbClr val="FBEDE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51460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批准操作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052560" y="2514600"/>
            <a:ext cx="2514600" cy="603504"/>
          </a:xfrm>
          <a:prstGeom prst="roundRect">
            <a:avLst>
              <a:gd name="adj" fmla="val 9091"/>
            </a:avLst>
          </a:prstGeom>
          <a:solidFill>
            <a:srgbClr val="FBEDE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2560" y="251460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签发验证码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3291840"/>
            <a:ext cx="2514600" cy="603504"/>
          </a:xfrm>
          <a:prstGeom prst="roundRect">
            <a:avLst>
              <a:gd name="adj" fmla="val 9091"/>
            </a:avLst>
          </a:prstGeom>
          <a:solidFill>
            <a:srgbClr val="FBEDE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329184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执行资金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052560" y="3291840"/>
            <a:ext cx="2514600" cy="603504"/>
          </a:xfrm>
          <a:prstGeom prst="roundRect">
            <a:avLst>
              <a:gd name="adj" fmla="val 9091"/>
            </a:avLst>
          </a:prstGeom>
          <a:solidFill>
            <a:srgbClr val="FBEDE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0" y="3291840"/>
            <a:ext cx="2514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✕ 解除暂停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09360" y="43434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红色操作（日累计超 1000 元、挂失）强制短信验证，级别落库后不可被对话改写。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反诈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拦截是底线，误报也是事故：两类分开治理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6309360" y="1691640"/>
            <a:ext cx="5303520" cy="4709160"/>
          </a:xfrm>
          <a:prstGeom prst="roundRect">
            <a:avLst>
              <a:gd name="adj" fmla="val 1553"/>
            </a:avLst>
          </a:prstGeom>
          <a:solidFill>
            <a:srgbClr val="FFFFFF"/>
          </a:solidFill>
          <a:ln w="12700">
            <a:solidFill>
              <a:srgbClr val="D8E2DD"/>
            </a:solidFill>
            <a:prstDash val="solid"/>
          </a:ln>
          <a:effectLst>
            <a:outerShdw sx="100000" sy="100000" kx="0" ky="0" algn="bl" rotWithShape="0" blurRad="88900" dist="25400" dir="5400000">
              <a:srgbClr val="1E3A30">
                <a:alpha val="14000"/>
              </a:srgbClr>
            </a:outerShdw>
          </a:effectLst>
        </p:spPr>
      </p:sp>
      <p:pic>
        <p:nvPicPr>
          <p:cNvPr id="7" name="Image 0" descr="E:\gitproject\hackathon\cashflow-guardian\submission\pptx-assets\03-safety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783080"/>
            <a:ext cx="5120640" cy="4526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182880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拦的是“转”，不是“问”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251460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安全账户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377440" y="2514600"/>
            <a:ext cx="237744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377440" y="251460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语音冒充亲友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154680"/>
            <a:ext cx="169164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315468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老师带单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2377440" y="3154680"/>
            <a:ext cx="210312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77440" y="315468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冒充公检法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617720" y="3154680"/>
            <a:ext cx="1920240" cy="475488"/>
          </a:xfrm>
          <a:prstGeom prst="roundRect">
            <a:avLst>
              <a:gd name="adj" fmla="val 50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17720" y="315468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假客服注销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548640" y="39776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50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全部要求资金语境才拦截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50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解释类提问只读科普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50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确认卡内置“先和家里人商量”与 96110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50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未命中不代表安全——如实写明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故障治理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银行已扣款、回答丢了：只回查原交易，绝不重付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执行：先持久化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063240" y="2423160"/>
            <a:ext cx="365760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429000" y="19659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BEDE5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响应丢失 UNKNOWN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0" y="2423160"/>
            <a:ext cx="365760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309360" y="19659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回查同一交易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823960" y="2423160"/>
            <a:ext cx="365760" cy="0"/>
          </a:xfrm>
          <a:prstGeom prst="line">
            <a:avLst/>
          </a:prstGeom>
          <a:noFill/>
          <a:ln w="25400">
            <a:solidFill>
              <a:srgbClr val="2E5E4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89720" y="19659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EAF1ED"/>
          </a:solidFill>
          <a:ln w="12700">
            <a:solidFill>
              <a:srgbClr val="2E5E4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89720" y="1965960"/>
            <a:ext cx="2514600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SUCCEEDED 回执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1091672" cy="1051560"/>
          </a:xfrm>
          <a:prstGeom prst="roundRect">
            <a:avLst>
              <a:gd name="adj" fmla="val 5217"/>
            </a:avLst>
          </a:prstGeom>
          <a:solidFill>
            <a:srgbClr val="FBEDE5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最危险的是把超时当失败、再付一次。</a:t>
            </a:r>
            <a:pPr indent="0" marL="0">
              <a:buNone/>
            </a:pPr>
            <a:r>
              <a:rPr lang="en-US" sz="1700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UNKNOWN 先持久化，只恢复原交易，不建第二笔。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48640" y="49834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“查过了：600 元已经转出成功，回执在下面，只动了这一笔。”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48640" y="562356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结果来自银行回读，不来自模型描述。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A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冻结挑战 24/24，纯规则 23/24——差距在非模板口语</a:t>
            </a:r>
            <a:endParaRPr lang="en-US" sz="27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828800"/>
          <a:ext cx="585216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949440" y="1920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 / 24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6949440" y="25968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冻结挑战（模型规划）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949440" y="33832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5E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264 项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6949440" y="40599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回归测试当前通过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949440" y="48463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18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6949440" y="55229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队友盲写集（安全4/4；3条口语理解未过，如实标注）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548640" y="58978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786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冻结挑战为作者可见成绩（非盲测），2026-10-25 按当前代码重跑、指纹一致；队友盲写集18条首轮3/18、修复后14/18，首轮与失败明细永久保留。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3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小满 · 银行办事助手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90879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 · 留在屏上答疑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694944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把话说完，把钱盯住，把事办完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5943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把话说完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改口、批准、回执、善后，一句口语走到底</a:t>
            </a:r>
            <a:endParaRPr lang="en-US" sz="2600" dirty="0"/>
          </a:p>
          <a:p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把钱盯住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叮咛、跟进、追回，管到用户作答为止</a:t>
            </a:r>
            <a:endParaRPr lang="en-US" sz="2600" dirty="0"/>
          </a:p>
          <a:p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把事办完</a:t>
            </a:r>
            <a:pPr indent="0" marL="0">
              <a:lnSpc>
                <a:spcPct val="120000"/>
              </a:lnSpc>
              <a:spcAft>
                <a:spcPts val="1600"/>
              </a:spcAft>
              <a:buNone/>
            </a:pPr>
            <a:r>
              <a:rPr lang="en-US" sz="150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　回执回读、UNKNOWN 只回查原交易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949440" y="21031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能力边界（如实）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949440" y="260604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50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银行沙箱，非真实银行；验证码为演示实现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50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银发收益待真人试用验证</a:t>
            </a:r>
            <a:endParaRPr lang="en-US" sz="1500" dirty="0"/>
          </a:p>
          <a:p>
            <a:pPr marL="152400" indent="-152400">
              <a:spcAft>
                <a:spcPts val="900"/>
              </a:spcAft>
              <a:buSzPct val="100000"/>
              <a:buChar char="▸"/>
            </a:pPr>
            <a:r>
              <a:rPr lang="en-US" sz="150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无银行坐席接入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949440" y="448056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F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 API · 正式认证 · 银发真人试用。源码与原始结果全部随附，欢迎评委写任务复查。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小满 · 银行办事助手（银发友好）</dc:title>
  <dc:subject>PptxGenJS Presentation</dc:subject>
  <dc:creator>小满项目组</dc:creator>
  <cp:lastModifiedBy>小满项目组</cp:lastModifiedBy>
  <cp:revision>1</cp:revision>
  <dcterms:created xsi:type="dcterms:W3CDTF">2026-10-29T17:00:19Z</dcterms:created>
  <dcterms:modified xsi:type="dcterms:W3CDTF">2026-10-29T17:00:19Z</dcterms:modified>
</cp:coreProperties>
</file>